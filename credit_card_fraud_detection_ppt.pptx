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Futura Bold" charset="1" panose="020B0702020204020203"/>
      <p:regular r:id="rId24"/>
    </p:embeddedFont>
    <p:embeddedFont>
      <p:font typeface="Montserrat" charset="1" panose="00000500000000000000"/>
      <p:regular r:id="rId25"/>
    </p:embeddedFont>
    <p:embeddedFont>
      <p:font typeface="Times New Roman" charset="1" panose="02020603050405020304"/>
      <p:regular r:id="rId26"/>
    </p:embeddedFont>
    <p:embeddedFont>
      <p:font typeface="Times New Roman Bold" charset="1" panose="02020803070505020304"/>
      <p:regular r:id="rId27"/>
    </p:embeddedFont>
    <p:embeddedFont>
      <p:font typeface="Futura" charset="1" panose="020B05020202040203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62558"/>
            <a:ext cx="18086107" cy="559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4"/>
              </a:lnSpc>
            </a:pPr>
            <a:r>
              <a:rPr lang="en-US" b="true" sz="34111" spc="4843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7720" y="1897073"/>
            <a:ext cx="14490667" cy="406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0"/>
              </a:lnSpc>
            </a:pPr>
            <a:r>
              <a:rPr lang="en-US" sz="11057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CREDIT CARD FRAUD DETECTION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26552" y="7878794"/>
            <a:ext cx="4132748" cy="13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99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Presented By: </a:t>
            </a:r>
          </a:p>
          <a:p>
            <a:pPr algn="l">
              <a:lnSpc>
                <a:spcPts val="2796"/>
              </a:lnSpc>
            </a:pPr>
            <a:r>
              <a:rPr lang="en-US" sz="199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M. R Lekshmi Priya (253011)</a:t>
            </a:r>
          </a:p>
          <a:p>
            <a:pPr algn="l">
              <a:lnSpc>
                <a:spcPts val="2796"/>
              </a:lnSpc>
            </a:pPr>
            <a:r>
              <a:rPr lang="en-US" sz="199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Hemalekshmi R (253114)</a:t>
            </a:r>
          </a:p>
          <a:p>
            <a:pPr algn="l">
              <a:lnSpc>
                <a:spcPts val="2796"/>
              </a:lnSpc>
            </a:pPr>
            <a:r>
              <a:rPr lang="en-US" sz="199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Ashna Jabin N.K (253107)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5323" y="6371349"/>
            <a:ext cx="13117924" cy="135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753">
                <a:solidFill>
                  <a:srgbClr val="4D4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Tri-Model Architecture Leveraging Decision Trees, XGBoost, and Heterogeneous Graph Neural Networks for Transaction Security</a:t>
            </a:r>
          </a:p>
          <a:p>
            <a:pPr algn="just">
              <a:lnSpc>
                <a:spcPts val="28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800321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759822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2" y="0"/>
                </a:lnTo>
                <a:lnTo>
                  <a:pt x="759822" y="7501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2767" y="1245672"/>
            <a:ext cx="15470778" cy="152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0"/>
              </a:lnSpc>
              <a:spcBef>
                <a:spcPct val="0"/>
              </a:spcBef>
            </a:pPr>
            <a:r>
              <a:rPr lang="en-US" sz="805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 &amp;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2767" y="3317164"/>
            <a:ext cx="14990573" cy="456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651" indent="-412825" lvl="1">
              <a:lnSpc>
                <a:spcPts val="5353"/>
              </a:lnSpc>
              <a:buFont typeface="Arial"/>
              <a:buChar char="•"/>
            </a:pPr>
            <a:r>
              <a:rPr lang="en-US" b="true" sz="3824">
                <a:solidFill>
                  <a:srgbClr val="4D4B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Problem:</a:t>
            </a:r>
            <a:r>
              <a:rPr lang="en-US" sz="3824">
                <a:solidFill>
                  <a:srgbClr val="4D4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Credit card fraud costs the global economy billions annually.</a:t>
            </a:r>
          </a:p>
          <a:p>
            <a:pPr algn="l" marL="825651" indent="-412825" lvl="1">
              <a:lnSpc>
                <a:spcPts val="5353"/>
              </a:lnSpc>
              <a:buFont typeface="Arial"/>
              <a:buChar char="•"/>
            </a:pPr>
            <a:r>
              <a:rPr lang="en-US" b="true" sz="3824">
                <a:solidFill>
                  <a:srgbClr val="4D4B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Challenge:</a:t>
            </a:r>
            <a:r>
              <a:rPr lang="en-US" sz="3824">
                <a:solidFill>
                  <a:srgbClr val="4D4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Fraudulent patterns are "needles in a haystack" (imbalanced data) and are constantly evolving.</a:t>
            </a:r>
          </a:p>
          <a:p>
            <a:pPr algn="l" marL="825651" indent="-412825" lvl="1">
              <a:lnSpc>
                <a:spcPts val="5353"/>
              </a:lnSpc>
              <a:buFont typeface="Arial"/>
              <a:buChar char="•"/>
            </a:pPr>
            <a:r>
              <a:rPr lang="en-US" b="true" sz="3824">
                <a:solidFill>
                  <a:srgbClr val="4D4B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Goal:</a:t>
            </a:r>
            <a:r>
              <a:rPr lang="en-US" sz="3824">
                <a:solidFill>
                  <a:srgbClr val="4D4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 a system that not only looks at transaction numbers but also at how users, devices, and cards are interconnected.</a:t>
            </a:r>
          </a:p>
          <a:p>
            <a:pPr algn="just">
              <a:lnSpc>
                <a:spcPts val="3953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8779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2621" y="1077854"/>
            <a:ext cx="9447319" cy="126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2"/>
              </a:lnSpc>
            </a:pPr>
            <a:r>
              <a:rPr lang="en-US" sz="8049" spc="64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Dataset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2710" y="2846151"/>
            <a:ext cx="14756768" cy="641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4739" indent="-412370" lvl="1">
              <a:lnSpc>
                <a:spcPts val="5348"/>
              </a:lnSpc>
              <a:buFont typeface="Arial"/>
              <a:buChar char="•"/>
            </a:pPr>
            <a:r>
              <a:rPr lang="en-US" b="true" sz="3820">
                <a:solidFill>
                  <a:srgbClr val="4D4D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Source: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IEEE Computational Intelligence Society (IEEE-CIS) dataset from Kaggle.</a:t>
            </a:r>
          </a:p>
          <a:p>
            <a:pPr algn="just" marL="824739" indent="-412370" lvl="1">
              <a:lnSpc>
                <a:spcPts val="5348"/>
              </a:lnSpc>
              <a:buFont typeface="Arial"/>
              <a:buChar char="•"/>
            </a:pPr>
            <a:r>
              <a:rPr lang="en-US" b="true" sz="3820">
                <a:solidFill>
                  <a:srgbClr val="4D4D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Complexity: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Contains two main tables: Transactions (amounts, timestamps) and Identity (device in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o,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net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details).</a:t>
            </a:r>
          </a:p>
          <a:p>
            <a:pPr algn="just" marL="824739" indent="-412370" lvl="1">
              <a:lnSpc>
                <a:spcPts val="5348"/>
              </a:lnSpc>
              <a:buFont typeface="Arial"/>
              <a:buChar char="•"/>
            </a:pPr>
            <a:r>
              <a:rPr lang="en-US" b="true" sz="3820">
                <a:solidFill>
                  <a:srgbClr val="4D4D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Scale: 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500,000 transactions with hundreds of features (V-features, C-features, D-features about 870 columns).</a:t>
            </a:r>
          </a:p>
          <a:p>
            <a:pPr algn="just" marL="824739" indent="-412370" lvl="1">
              <a:lnSpc>
                <a:spcPts val="5348"/>
              </a:lnSpc>
              <a:buFont typeface="Arial"/>
              <a:buChar char="•"/>
            </a:pPr>
            <a:r>
              <a:rPr lang="en-US" b="true" sz="3820">
                <a:solidFill>
                  <a:srgbClr val="4D4D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Imbalance:</a:t>
            </a:r>
            <a:r>
              <a:rPr lang="en-US" sz="3820">
                <a:solidFill>
                  <a:srgbClr val="4D4D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Highlighting that only a tiny percentage of the data is actually fraud.</a:t>
            </a:r>
          </a:p>
          <a:p>
            <a:pPr algn="just">
              <a:lnSpc>
                <a:spcPts val="3900"/>
              </a:lnSpc>
            </a:pPr>
          </a:p>
          <a:p>
            <a:pPr algn="just">
              <a:lnSpc>
                <a:spcPts val="39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6499478" y="1028700"/>
            <a:ext cx="759822" cy="750151"/>
          </a:xfrm>
          <a:custGeom>
            <a:avLst/>
            <a:gdLst/>
            <a:ahLst/>
            <a:cxnLst/>
            <a:rect r="r" b="b" t="t" l="l"/>
            <a:pathLst>
              <a:path h="750151" w="759822">
                <a:moveTo>
                  <a:pt x="0" y="750151"/>
                </a:moveTo>
                <a:lnTo>
                  <a:pt x="759822" y="750151"/>
                </a:lnTo>
                <a:lnTo>
                  <a:pt x="759822" y="0"/>
                </a:lnTo>
                <a:lnTo>
                  <a:pt x="0" y="0"/>
                </a:lnTo>
                <a:lnTo>
                  <a:pt x="0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28700" y="8891519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702036" y="673025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0" y="366781"/>
                </a:moveTo>
                <a:lnTo>
                  <a:pt x="371509" y="366781"/>
                </a:lnTo>
                <a:lnTo>
                  <a:pt x="371509" y="0"/>
                </a:lnTo>
                <a:lnTo>
                  <a:pt x="0" y="0"/>
                </a:lnTo>
                <a:lnTo>
                  <a:pt x="0" y="36678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2093" y="577775"/>
            <a:ext cx="13733658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5"/>
              </a:lnSpc>
            </a:pPr>
            <a:r>
              <a:rPr lang="en-US" sz="8049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EDA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74062"/>
            <a:ext cx="16044845" cy="650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Overview:</a:t>
            </a:r>
          </a:p>
          <a:p>
            <a:pPr algn="l">
              <a:lnSpc>
                <a:spcPts val="4726"/>
              </a:lnSpc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Transactions: 590,540 (Original) | Notebook Sample: 177,162 (30%)</a:t>
            </a:r>
          </a:p>
          <a:p>
            <a:pPr algn="l">
              <a:lnSpc>
                <a:spcPts val="4726"/>
              </a:lnSpc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Dimensionality: 434 Initial Features (Transaction + </a:t>
            </a: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 data join).</a:t>
            </a:r>
          </a:p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Class Imbalance - Legitimate: 96.42% | Fraudulent: 3.58%</a:t>
            </a:r>
          </a:p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mbalance Ratio: 1 : 26.9 (Requires stratified sampling).</a:t>
            </a:r>
          </a:p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 Analysis: Identified 214 columns with &gt;50% missing data (primarily in Vesta and Identity features).</a:t>
            </a:r>
          </a:p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sparsity in "V" features suggests the need for dimensionality reduction (PCA).</a:t>
            </a:r>
          </a:p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</a:t>
            </a: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Findings: Transaction amounts follow a long-tail distribution (Outliers identified at $1,104+).</a:t>
            </a:r>
          </a:p>
          <a:p>
            <a:pPr algn="l" marL="728853" indent="-364426" lvl="1">
              <a:lnSpc>
                <a:spcPts val="4726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analysis reveals cyclical "midnight" spikes in fraudulent attempts.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10800000">
            <a:off x="842945" y="9494772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0" y="366782"/>
                </a:moveTo>
                <a:lnTo>
                  <a:pt x="371510" y="366782"/>
                </a:lnTo>
                <a:lnTo>
                  <a:pt x="371510" y="0"/>
                </a:lnTo>
                <a:lnTo>
                  <a:pt x="0" y="0"/>
                </a:lnTo>
                <a:lnTo>
                  <a:pt x="0" y="3667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0693" y="2465844"/>
            <a:ext cx="14774394" cy="5706610"/>
          </a:xfrm>
          <a:custGeom>
            <a:avLst/>
            <a:gdLst/>
            <a:ahLst/>
            <a:cxnLst/>
            <a:rect r="r" b="b" t="t" l="l"/>
            <a:pathLst>
              <a:path h="5706610" w="14774394">
                <a:moveTo>
                  <a:pt x="0" y="0"/>
                </a:moveTo>
                <a:lnTo>
                  <a:pt x="14774393" y="0"/>
                </a:lnTo>
                <a:lnTo>
                  <a:pt x="14774393" y="5706610"/>
                </a:lnTo>
                <a:lnTo>
                  <a:pt x="0" y="5706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2118" y="877698"/>
            <a:ext cx="11574036" cy="103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3"/>
              </a:lnSpc>
            </a:pPr>
            <a:r>
              <a:rPr lang="en-US" sz="6569" spc="52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Target Class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887790" y="1028700"/>
            <a:ext cx="371510" cy="366781"/>
          </a:xfrm>
          <a:custGeom>
            <a:avLst/>
            <a:gdLst/>
            <a:ahLst/>
            <a:cxnLst/>
            <a:rect r="r" b="b" t="t" l="l"/>
            <a:pathLst>
              <a:path h="366781" w="371510">
                <a:moveTo>
                  <a:pt x="0" y="366781"/>
                </a:moveTo>
                <a:lnTo>
                  <a:pt x="371510" y="366781"/>
                </a:lnTo>
                <a:lnTo>
                  <a:pt x="371510" y="0"/>
                </a:lnTo>
                <a:lnTo>
                  <a:pt x="0" y="0"/>
                </a:lnTo>
                <a:lnTo>
                  <a:pt x="0" y="36678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2115" y="792478"/>
            <a:ext cx="14272252" cy="112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9"/>
              </a:lnSpc>
            </a:pPr>
            <a:r>
              <a:rPr lang="en-US" sz="6927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Feature Engineering &amp;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3644" y="2854478"/>
            <a:ext cx="16620151" cy="68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065" indent="-319532" lvl="1">
              <a:lnSpc>
                <a:spcPts val="4144"/>
              </a:lnSpc>
              <a:buAutoNum type="arabicPeriod" startAt="1"/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</a:t>
            </a: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aning: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Memory Optimization: Downcasted numeric types, reducing RAM usage by ~60%.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Missingness Strategy: Median imputation for numeric gaps; "Unknown" tagging for categorical text.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Outlier Capping: Applied 99th percentile clipping ($1,104) to stabilize model gradients.</a:t>
            </a:r>
          </a:p>
          <a:p>
            <a:pPr algn="l">
              <a:lnSpc>
                <a:spcPts val="4144"/>
              </a:lnSpc>
            </a:pPr>
          </a:p>
          <a:p>
            <a:pPr algn="l" marL="639065" indent="-319532" lvl="1">
              <a:lnSpc>
                <a:spcPts val="4144"/>
              </a:lnSpc>
              <a:buAutoNum type="arabicPeriod" startAt="1"/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Transformation &amp; Scaling: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Z-Score Scaling: Normalized all features to Mean=0, Variance=1.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Label Encoding: Transformed 9 categorical features (DeviceType, card4, etc.) into numeric inputs.</a:t>
            </a:r>
          </a:p>
          <a:p>
            <a:pPr algn="l">
              <a:lnSpc>
                <a:spcPts val="4144"/>
              </a:lnSpc>
            </a:pPr>
          </a:p>
          <a:p>
            <a:pPr algn="l" marL="639065" indent="-319532" lvl="1">
              <a:lnSpc>
                <a:spcPts val="4144"/>
              </a:lnSpc>
              <a:buAutoNum type="arabicPeriod" startAt="1"/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 Reduction (PCA):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Condensed 339 "V-features" into 50 Principal Components (PCA applied only for XGBoost model)</a:t>
            </a:r>
          </a:p>
          <a:p>
            <a:pPr algn="l">
              <a:lnSpc>
                <a:spcPts val="4144"/>
              </a:lnSpc>
            </a:pPr>
            <a:r>
              <a:rPr lang="en-US" sz="2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Maintains 90%+ variance while removing noise and multi-collinearity.</a:t>
            </a:r>
          </a:p>
          <a:p>
            <a:pPr algn="l">
              <a:lnSpc>
                <a:spcPts val="414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1424" y="1300231"/>
            <a:ext cx="14663875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5"/>
              </a:lnSpc>
            </a:pPr>
            <a:r>
              <a:rPr lang="en-US" sz="8049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Decision Tree (Baseline Model)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0051" y="3085211"/>
            <a:ext cx="16149249" cy="617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Objectives: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 a "glass-box" baseline to understand feature importance.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Implement SMOTE (Synthetic Minority Over-sampling Technique) to address the 1:27 class imbalance.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onfiguration: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 Decision Tree Classifier (max_depth=12).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Resampling: Increased fraud representation from 4,439 to 59,786 samples using synthetic generation.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Weighting: Utilized class_weight='balanced' to further penalize misclassified fraud.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Results (Test Set):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Detection Rate (Recall): 54.57% (519/951 frauds detected).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Precision: 29.29% (Low precision due to aggressive flagging).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ROC-AUC: 0.8390.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successfully identified over half of the fraud cases but produced 1,253 false alarms.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Predictors: Features related to Transaction Amount and Card Identity proved most influential.</a:t>
            </a:r>
          </a:p>
          <a:p>
            <a:pPr algn="l" marL="626111" indent="-313055" lvl="1">
              <a:lnSpc>
                <a:spcPts val="3248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Serves as a benchmark; more advanced models (XGBoost/HGNN) are required to reduce "Customer Friction" (False Positives).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"/>
            <a:ext cx="15752162" cy="9258300"/>
          </a:xfrm>
          <a:custGeom>
            <a:avLst/>
            <a:gdLst/>
            <a:ahLst/>
            <a:cxnLst/>
            <a:rect r="r" b="b" t="t" l="l"/>
            <a:pathLst>
              <a:path h="9258300" w="15752162">
                <a:moveTo>
                  <a:pt x="0" y="0"/>
                </a:moveTo>
                <a:lnTo>
                  <a:pt x="15752162" y="0"/>
                </a:lnTo>
                <a:lnTo>
                  <a:pt x="1575216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0" r="0" b="-51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1424" y="1300231"/>
            <a:ext cx="14663875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5"/>
              </a:lnSpc>
            </a:pPr>
            <a:r>
              <a:rPr lang="en-US" sz="8049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XGBoost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0051" y="3085211"/>
            <a:ext cx="16149249" cy="494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 XGBoost (Extreme Gradient Boosting) using 500 trees and a max depth of 8.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Imbalance H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andling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Resampling - Generated 55,347 synthetic samples to balance the training set.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Cost-Sensitive Learning: Set scale_pos_weight = 26.9 to penalize missed fraud more heavily.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Metrics: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ROC-AUC: 0.9198 (Strong overall discriminative power).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Recall: 72.66% (Catches nearly 3/4 of all fraud cases).</a:t>
            </a:r>
          </a:p>
          <a:p>
            <a:pPr algn="l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Precision: 31.11% (Trade-off: higher false-alarm rate to ensure security).</a:t>
            </a:r>
          </a:p>
          <a:p>
            <a:pPr algn="l" marL="626111" indent="-313055" lvl="1">
              <a:lnSpc>
                <a:spcPts val="3248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15 Predictors: Model reliance is concentrated in specific "V" (Vesta behavioral) and "C" (Count) features, which provide significantly more information than the raw transaction amount.</a:t>
            </a:r>
          </a:p>
          <a:p>
            <a:pPr algn="l" marL="626111" indent="-313055" lvl="1">
              <a:lnSpc>
                <a:spcPts val="3248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Efficiency: Entire training process completed in 35.8 seconds with total features used - 217, making it highly scalable for large datasets.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4565" y="1883207"/>
            <a:ext cx="16094735" cy="6483913"/>
          </a:xfrm>
          <a:custGeom>
            <a:avLst/>
            <a:gdLst/>
            <a:ahLst/>
            <a:cxnLst/>
            <a:rect r="r" b="b" t="t" l="l"/>
            <a:pathLst>
              <a:path h="6483913" w="16094735">
                <a:moveTo>
                  <a:pt x="0" y="0"/>
                </a:moveTo>
                <a:lnTo>
                  <a:pt x="16094735" y="0"/>
                </a:lnTo>
                <a:lnTo>
                  <a:pt x="16094735" y="6483912"/>
                </a:lnTo>
                <a:lnTo>
                  <a:pt x="0" y="6483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" t="0" r="-14408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1424" y="1300231"/>
            <a:ext cx="14663875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5"/>
              </a:lnSpc>
            </a:pPr>
            <a:r>
              <a:rPr lang="en-US" sz="8049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HGNN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41930"/>
            <a:ext cx="15786217" cy="407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7456" indent="-343728" lvl="1">
              <a:lnSpc>
                <a:spcPts val="3566"/>
              </a:lnSpc>
              <a:buFont typeface="Arial"/>
              <a:buChar char="•"/>
            </a:pP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Graph-Based Fraud Architecture</a:t>
            </a:r>
          </a:p>
          <a:p>
            <a:pPr algn="l" marL="687456" indent="-343728" lvl="1">
              <a:lnSpc>
                <a:spcPts val="3566"/>
              </a:lnSpc>
              <a:buFont typeface="Arial"/>
              <a:buChar char="•"/>
            </a:pP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Concept: Moves beyond tabular </a:t>
            </a: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to</a:t>
            </a: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Relationship Mapping.</a:t>
            </a:r>
          </a:p>
          <a:p>
            <a:pPr algn="l" marL="687456" indent="-343728" lvl="1">
              <a:lnSpc>
                <a:spcPts val="3566"/>
              </a:lnSpc>
              <a:buFont typeface="Arial"/>
              <a:buChar char="•"/>
            </a:pP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Graph: Connects three distinct node types: Transactions, Cards, and Devices.</a:t>
            </a:r>
          </a:p>
          <a:p>
            <a:pPr algn="l" marL="687456" indent="-343728" lvl="1">
              <a:lnSpc>
                <a:spcPts val="3566"/>
              </a:lnSpc>
              <a:buFont typeface="Arial"/>
              <a:buChar char="•"/>
            </a:pP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ttention Mechanism: Uses a Transformer-based architecture</a:t>
            </a: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automatically weigh the importance of different connection types (e.g., identifying "High-Risk Devices").</a:t>
            </a:r>
          </a:p>
          <a:p>
            <a:pPr algn="l" marL="687456" indent="-343728" lvl="1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Intelligence: Incorporates Temporal Decay to prioritize recent behavioral patterns over historical data.</a:t>
            </a:r>
          </a:p>
          <a:p>
            <a:pPr algn="l" marL="687456" indent="-343728" lvl="1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31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Use Case: Best used as a high-confidence filter to automatically block transactions without needing manual review.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9487" y="2148030"/>
            <a:ext cx="16977630" cy="5990940"/>
          </a:xfrm>
          <a:custGeom>
            <a:avLst/>
            <a:gdLst/>
            <a:ahLst/>
            <a:cxnLst/>
            <a:rect r="r" b="b" t="t" l="l"/>
            <a:pathLst>
              <a:path h="5990940" w="16977630">
                <a:moveTo>
                  <a:pt x="0" y="0"/>
                </a:moveTo>
                <a:lnTo>
                  <a:pt x="16977630" y="0"/>
                </a:lnTo>
                <a:lnTo>
                  <a:pt x="16977630" y="5990940"/>
                </a:lnTo>
                <a:lnTo>
                  <a:pt x="0" y="5990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0" t="0" r="-23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9487" y="675990"/>
            <a:ext cx="6678043" cy="103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3"/>
              </a:lnSpc>
            </a:pPr>
            <a:r>
              <a:rPr lang="en-US" sz="6569" spc="52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Training Curves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0693" y="1491498"/>
            <a:ext cx="15698607" cy="8496871"/>
          </a:xfrm>
          <a:custGeom>
            <a:avLst/>
            <a:gdLst/>
            <a:ahLst/>
            <a:cxnLst/>
            <a:rect r="r" b="b" t="t" l="l"/>
            <a:pathLst>
              <a:path h="8496871" w="15698607">
                <a:moveTo>
                  <a:pt x="0" y="0"/>
                </a:moveTo>
                <a:lnTo>
                  <a:pt x="15698607" y="0"/>
                </a:lnTo>
                <a:lnTo>
                  <a:pt x="15698607" y="8496871"/>
                </a:lnTo>
                <a:lnTo>
                  <a:pt x="0" y="8496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0693" y="455946"/>
            <a:ext cx="3817463" cy="103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3"/>
              </a:lnSpc>
            </a:pPr>
            <a:r>
              <a:rPr lang="en-US" sz="6569" spc="52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Preview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78156" y="682099"/>
            <a:ext cx="13839598" cy="68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357" spc="18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Deployed via Streamlit:</a:t>
            </a:r>
          </a:p>
          <a:p>
            <a:pPr algn="l">
              <a:lnSpc>
                <a:spcPts val="2499"/>
              </a:lnSpc>
            </a:pPr>
            <a:r>
              <a:rPr lang="en-US" sz="2357" spc="18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https://credit-card-fraud-detection-system-hyyu5xm7adgwjhhweyg8gt.streamlit.app/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048" y="1837349"/>
            <a:ext cx="16550252" cy="7749978"/>
          </a:xfrm>
          <a:custGeom>
            <a:avLst/>
            <a:gdLst/>
            <a:ahLst/>
            <a:cxnLst/>
            <a:rect r="r" b="b" t="t" l="l"/>
            <a:pathLst>
              <a:path h="7749978" w="16550252">
                <a:moveTo>
                  <a:pt x="0" y="0"/>
                </a:moveTo>
                <a:lnTo>
                  <a:pt x="16550252" y="0"/>
                </a:lnTo>
                <a:lnTo>
                  <a:pt x="16550252" y="7749978"/>
                </a:lnTo>
                <a:lnTo>
                  <a:pt x="0" y="7749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72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6992" y="494043"/>
            <a:ext cx="11101002" cy="10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4"/>
              </a:lnSpc>
            </a:pPr>
            <a:r>
              <a:rPr lang="en-US" sz="6569" spc="52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Prediction Preview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035" y="3674719"/>
            <a:ext cx="18007548" cy="3982469"/>
          </a:xfrm>
          <a:custGeom>
            <a:avLst/>
            <a:gdLst/>
            <a:ahLst/>
            <a:cxnLst/>
            <a:rect r="r" b="b" t="t" l="l"/>
            <a:pathLst>
              <a:path h="3982469" w="18007548">
                <a:moveTo>
                  <a:pt x="0" y="0"/>
                </a:moveTo>
                <a:lnTo>
                  <a:pt x="18007548" y="0"/>
                </a:lnTo>
                <a:lnTo>
                  <a:pt x="18007548" y="3982468"/>
                </a:lnTo>
                <a:lnTo>
                  <a:pt x="0" y="3982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9" t="0" r="-54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01637" y="962025"/>
            <a:ext cx="8398101" cy="1751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2"/>
              </a:lnSpc>
            </a:pPr>
            <a:r>
              <a:rPr lang="en-US" sz="576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Model Evaluation</a:t>
            </a:r>
          </a:p>
          <a:p>
            <a:pPr algn="ctr">
              <a:lnSpc>
                <a:spcPts val="6452"/>
              </a:lnSpc>
            </a:pPr>
            <a:r>
              <a:rPr lang="en-US" sz="5760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Confusion Matrices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58487" y="3047854"/>
            <a:ext cx="5971026" cy="4546676"/>
          </a:xfrm>
          <a:custGeom>
            <a:avLst/>
            <a:gdLst/>
            <a:ahLst/>
            <a:cxnLst/>
            <a:rect r="r" b="b" t="t" l="l"/>
            <a:pathLst>
              <a:path h="4546676" w="5971026">
                <a:moveTo>
                  <a:pt x="0" y="0"/>
                </a:moveTo>
                <a:lnTo>
                  <a:pt x="5971026" y="0"/>
                </a:lnTo>
                <a:lnTo>
                  <a:pt x="5971026" y="4546675"/>
                </a:lnTo>
                <a:lnTo>
                  <a:pt x="0" y="4546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8" t="0" r="-10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002" y="3047854"/>
            <a:ext cx="5789085" cy="4546676"/>
          </a:xfrm>
          <a:custGeom>
            <a:avLst/>
            <a:gdLst/>
            <a:ahLst/>
            <a:cxnLst/>
            <a:rect r="r" b="b" t="t" l="l"/>
            <a:pathLst>
              <a:path h="4546676" w="5789085">
                <a:moveTo>
                  <a:pt x="0" y="0"/>
                </a:moveTo>
                <a:lnTo>
                  <a:pt x="5789085" y="0"/>
                </a:lnTo>
                <a:lnTo>
                  <a:pt x="5789085" y="4546675"/>
                </a:lnTo>
                <a:lnTo>
                  <a:pt x="0" y="4546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2" t="0" r="-262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81913" y="3047854"/>
            <a:ext cx="5789429" cy="4546676"/>
          </a:xfrm>
          <a:custGeom>
            <a:avLst/>
            <a:gdLst/>
            <a:ahLst/>
            <a:cxnLst/>
            <a:rect r="r" b="b" t="t" l="l"/>
            <a:pathLst>
              <a:path h="4546676" w="5789429">
                <a:moveTo>
                  <a:pt x="0" y="0"/>
                </a:moveTo>
                <a:lnTo>
                  <a:pt x="5789429" y="0"/>
                </a:lnTo>
                <a:lnTo>
                  <a:pt x="5789429" y="4546675"/>
                </a:lnTo>
                <a:lnTo>
                  <a:pt x="0" y="4546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9" r="-32623" b="-23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09405" y="942975"/>
            <a:ext cx="11157140" cy="107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06"/>
              </a:lnSpc>
            </a:pPr>
            <a:r>
              <a:rPr lang="en-US" sz="6523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Precision Recall Curves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0414" y="2323835"/>
            <a:ext cx="1827172" cy="59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7"/>
              </a:lnSpc>
            </a:pPr>
            <a:r>
              <a:rPr lang="en-US" sz="3622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XGBoost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5821" y="2323835"/>
            <a:ext cx="2711447" cy="59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7"/>
              </a:lnSpc>
            </a:pPr>
            <a:r>
              <a:rPr lang="en-US" sz="3622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Decision Tree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6412" y="2323835"/>
            <a:ext cx="1827172" cy="59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7"/>
              </a:lnSpc>
            </a:pPr>
            <a:r>
              <a:rPr lang="en-US" sz="3622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HGNN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933272" y="1471945"/>
          <a:ext cx="7543800" cy="3771900"/>
        </p:xfrm>
        <a:graphic>
          <a:graphicData uri="http://schemas.openxmlformats.org/presentationml/2006/ole">
            <p:oleObj imgW="9042400" imgH="5270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6346" y="713446"/>
            <a:ext cx="14663875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5"/>
              </a:lnSpc>
            </a:pPr>
            <a:r>
              <a:rPr lang="en-US" sz="8049" b="true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8921" y="2620269"/>
            <a:ext cx="16930157" cy="696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554" indent="-384777" lvl="1">
              <a:lnSpc>
                <a:spcPts val="3992"/>
              </a:lnSpc>
              <a:buFont typeface="Arial"/>
              <a:buChar char="•"/>
            </a:pP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HGNN-ATT-TD (Top Performer): Achieved highest accuracy (96.60%) with lowest false positives (0.77%); best for reliable, low-friction automated systems.</a:t>
            </a:r>
          </a:p>
          <a:p>
            <a:pPr algn="l" marL="769554" indent="-384777" lvl="1">
              <a:lnSpc>
                <a:spcPts val="3992"/>
              </a:lnSpc>
              <a:buFont typeface="Arial"/>
              <a:buChar char="•"/>
            </a:pP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Detection: Correctly predicted 35/41 cases (~85%), making it the most effective overall model.</a:t>
            </a:r>
          </a:p>
          <a:p>
            <a:pPr algn="l" marL="769554" indent="-384777" lvl="1">
              <a:lnSpc>
                <a:spcPts val="3992"/>
              </a:lnSpc>
              <a:buFont typeface="Arial"/>
              <a:buChar char="•"/>
            </a:pP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(Balanced Model): Highest ROC-AUC (0.8113); best at distinguishing fraud patterns and offers strong recall for deeper analysis.</a:t>
            </a:r>
          </a:p>
          <a:p>
            <a:pPr algn="l" marL="769554" indent="-384777" lvl="1">
              <a:lnSpc>
                <a:spcPts val="3992"/>
              </a:lnSpc>
              <a:buFont typeface="Arial"/>
              <a:buChar char="•"/>
            </a:pP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(High Sensitivity): Captures more fraud cases (higher recall) but with many false positives (over-flagging)</a:t>
            </a:r>
          </a:p>
          <a:p>
            <a:pPr algn="l" marL="769554" indent="-384777" lvl="1">
              <a:lnSpc>
                <a:spcPts val="3992"/>
              </a:lnSpc>
              <a:buFont typeface="Arial"/>
              <a:buChar char="•"/>
            </a:pP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production environment, the HGNN-ATT-TD is the superi</a:t>
            </a: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choice for automated fraud prevention. </a:t>
            </a:r>
          </a:p>
          <a:p>
            <a:pPr algn="l" marL="769554" indent="-384777" lvl="1">
              <a:lnSpc>
                <a:spcPts val="3992"/>
              </a:lnSpc>
              <a:buFont typeface="Arial"/>
              <a:buChar char="•"/>
            </a:pPr>
            <a:r>
              <a:rPr lang="en-US" sz="3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analyzing relationships (Graph data) rather than just independent rows (Tabular data), it provides the most stable and reliable detection with nearly zero impact on legitimate users.</a:t>
            </a:r>
          </a:p>
          <a:p>
            <a:pPr algn="l">
              <a:lnSpc>
                <a:spcPts val="35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DAHHUeeI5-U</dc:identifier>
  <dcterms:modified xsi:type="dcterms:W3CDTF">2011-08-01T06:04:30Z</dcterms:modified>
  <cp:revision>1</cp:revision>
  <dc:title>credit_card_fraud_detection_ppt</dc:title>
</cp:coreProperties>
</file>